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72B6B"/>
              </a:gs>
              <a:gs pos="100000">
                <a:srgbClr val="312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82F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4338C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834189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03120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C7D2FE"/>
                </a:solidFill>
                <a:latin typeface="Segoe UI"/>
              </a:rPr>
              <a:t>KIPS COLLEGE KASUR 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72591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Segoe UI"/>
              </a:rPr>
              <a:t>Campus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60"/>
            <a:ext cx="9445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C7D2FE"/>
                </a:solidFill>
                <a:latin typeface="Segoe UI"/>
              </a:rPr>
              <a:t>A single web portal replacing manual registers and spreadsheets — academics, attendance, faculty payroll, fees, and reporting in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Client Presentation  •  Project Delivery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What We'll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698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11827"/>
                </a:solidFill>
                <a:latin typeface="Segoe UI"/>
              </a:rPr>
              <a:t>The challenge — what the campus was dealing with before this project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11827"/>
                </a:solidFill>
                <a:latin typeface="Segoe UI"/>
              </a:rPr>
              <a:t>What was asked for — the original requirements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11827"/>
                </a:solidFill>
                <a:latin typeface="Segoe UI"/>
              </a:rPr>
              <a:t>What was delivered — the complete module roadmap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11827"/>
                </a:solidFill>
                <a:latin typeface="Segoe UI"/>
              </a:rPr>
              <a:t>Who uses it — six role-based portals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11827"/>
                </a:solidFill>
                <a:latin typeface="Segoe UI"/>
              </a:rPr>
              <a:t>A closer look at each module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11827"/>
                </a:solidFill>
                <a:latin typeface="Segoe UI"/>
              </a:rPr>
              <a:t>The value this creates — for students, staff, and management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800" b="0" i="0">
                <a:solidFill>
                  <a:srgbClr val="111827"/>
                </a:solidFill>
                <a:latin typeface="Segoe UI"/>
              </a:rPr>
              <a:t>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pic>
        <p:nvPicPr>
          <p:cNvPr id="9" name="Picture 8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THE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A Campus Running on Registers and Spreadsheets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698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Attendance &amp; lecture records kept on paper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Slow to compile, easy to lose, impossible to search or report on instantly.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Faculty pay calculated by hand from those same registers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A recurring source of disputes and delay every payroll cycle.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Marks, results, and GPA tracked in scattered spreadsheets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No single, trustworthy view of a student’s standing.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Timetables built manually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Teacher and room double-bookings caught only after they happen.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Fee records kept per-student on paper ledgers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No campus-wide view of who owes what, or when it’s due.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Multiple programs and semesters running at once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All of the above multiplied across every program, every semester, every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698480" cy="59436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1">
                <a:solidFill>
                  <a:srgbClr val="1E3A8A"/>
                </a:solidFill>
                <a:latin typeface="Segoe UI"/>
              </a:rPr>
              <a:t>This is the exact problem the Campus Management System was commissioned to solve.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pic>
        <p:nvPicPr>
          <p:cNvPr id="11" name="Picture 10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What Was Asked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82296" cy="44805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Core Modules Requested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Course &amp; semester management, with faculty assignment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Attendance tracking with shortage warnings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Electronic faculty day book tied to payroll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Student academic portal (marks, GPA/CGPA)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Teacher portal for grading &amp; attendance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Conflict-free timetable scheduling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Fee &amp; financial management per student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Role-specific dashboards &amp; exportable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82296" cy="4480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Non-Negotiables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14600"/>
            <a:ext cx="46634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Six distinct roles, each seeing only what’s relevant to them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Clean, maintainable, mobile-responsive interface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Input validation and error handling throughout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Sample data for immediate testing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A working local setup with clear run instructions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11827"/>
                </a:solidFill>
                <a:latin typeface="Segoe UI"/>
              </a:rPr>
              <a:t>Built incrementally, reviewed at every stage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pic>
        <p:nvPicPr>
          <p:cNvPr id="16" name="Picture 15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Complete Project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22050" y="3081528"/>
            <a:ext cx="9547593" cy="381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9442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Foundation &amp;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Accounts, roles, and permissions for all 6 user types</a:t>
            </a:r>
          </a:p>
        </p:txBody>
      </p:sp>
      <p:sp>
        <p:nvSpPr>
          <p:cNvPr id="9" name="Oval 8"/>
          <p:cNvSpPr/>
          <p:nvPr/>
        </p:nvSpPr>
        <p:spPr>
          <a:xfrm>
            <a:off x="2393384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9741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9741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Lecture-wise attendance with live % and shortage alerts</a:t>
            </a:r>
          </a:p>
        </p:txBody>
      </p:sp>
      <p:sp>
        <p:nvSpPr>
          <p:cNvPr id="12" name="Oval 11"/>
          <p:cNvSpPr/>
          <p:nvPr/>
        </p:nvSpPr>
        <p:spPr>
          <a:xfrm>
            <a:off x="3757326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3683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Faculty Day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3683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Lecture logging tied directly to payroll</a:t>
            </a:r>
          </a:p>
        </p:txBody>
      </p:sp>
      <p:sp>
        <p:nvSpPr>
          <p:cNvPr id="15" name="Oval 14"/>
          <p:cNvSpPr/>
          <p:nvPr/>
        </p:nvSpPr>
        <p:spPr>
          <a:xfrm>
            <a:off x="5121268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7625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Assessments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7625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Marks, results, GPA/CGPA, live for students</a:t>
            </a:r>
          </a:p>
        </p:txBody>
      </p:sp>
      <p:sp>
        <p:nvSpPr>
          <p:cNvPr id="18" name="Oval 17"/>
          <p:cNvSpPr/>
          <p:nvPr/>
        </p:nvSpPr>
        <p:spPr>
          <a:xfrm>
            <a:off x="6485210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1567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Timetable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1567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Conflict-checked scheduling, no double-booking</a:t>
            </a:r>
          </a:p>
        </p:txBody>
      </p:sp>
      <p:sp>
        <p:nvSpPr>
          <p:cNvPr id="21" name="Oval 20"/>
          <p:cNvSpPr/>
          <p:nvPr/>
        </p:nvSpPr>
        <p:spPr>
          <a:xfrm>
            <a:off x="7849152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509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5509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Per-student fee packages, payments, balances</a:t>
            </a:r>
          </a:p>
        </p:txBody>
      </p:sp>
      <p:sp>
        <p:nvSpPr>
          <p:cNvPr id="24" name="Oval 23"/>
          <p:cNvSpPr/>
          <p:nvPr/>
        </p:nvSpPr>
        <p:spPr>
          <a:xfrm>
            <a:off x="9213094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451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Dashboards &amp;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451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Role dashboards, Excel/PDF exports</a:t>
            </a:r>
          </a:p>
        </p:txBody>
      </p:sp>
      <p:sp>
        <p:nvSpPr>
          <p:cNvPr id="27" name="Oval 26"/>
          <p:cNvSpPr/>
          <p:nvPr/>
        </p:nvSpPr>
        <p:spPr>
          <a:xfrm>
            <a:off x="10577036" y="2788920"/>
            <a:ext cx="585216" cy="585216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3393" y="3566160"/>
            <a:ext cx="127250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Admin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3393" y="4206240"/>
            <a:ext cx="127250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 i="0">
                <a:solidFill>
                  <a:srgbClr val="6B7280"/>
                </a:solidFill>
                <a:latin typeface="Segoe UI"/>
              </a:rPr>
              <a:t>Every setup task self-service, no technical access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10698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059669"/>
                </a:solidFill>
                <a:latin typeface="Segoe UI"/>
              </a:rPr>
              <a:t>All phases delivered and verified end-to-end — the system is complete and in testing.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pic>
        <p:nvPicPr>
          <p:cNvPr id="34" name="Picture 33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Six Roles, Six Tailored Experiences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290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50" b="1" i="0">
                <a:solidFill>
                  <a:srgbClr val="111827"/>
                </a:solidFill>
                <a:latin typeface="Segoe UI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6B7280"/>
                </a:solidFill>
                <a:latin typeface="Segoe UI"/>
              </a:rPr>
              <a:t>Attendance %, grades &amp; GPA, timetable, fee status — all self-service.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78308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783080"/>
            <a:ext cx="34290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8424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50" b="1" i="0">
                <a:solidFill>
                  <a:srgbClr val="111827"/>
                </a:solidFill>
                <a:latin typeface="Segoe UI"/>
              </a:rPr>
              <a:t>Teacher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41448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6B7280"/>
                </a:solidFill>
                <a:latin typeface="Segoe UI"/>
              </a:rPr>
              <a:t>Mark attendance, log lectures, enter marks, view teaching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78308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783080"/>
            <a:ext cx="34290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98424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50" b="1" i="0">
                <a:solidFill>
                  <a:srgbClr val="111827"/>
                </a:solidFill>
                <a:latin typeface="Segoe UI"/>
              </a:rPr>
              <a:t>Head of Department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441448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6B7280"/>
                </a:solidFill>
                <a:latin typeface="Segoe UI"/>
              </a:rPr>
              <a:t>Everything a teacher has, plus department-level oversight.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79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40479"/>
            <a:ext cx="34290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41647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50" b="1" i="0">
                <a:solidFill>
                  <a:srgbClr val="111827"/>
                </a:solidFill>
                <a:latin typeface="Segoe UI"/>
              </a:rPr>
              <a:t>Campus Coordinator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98847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Programs, courses, faculty assignments, enrollments, timetable.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840479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840479"/>
            <a:ext cx="34290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041647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50" b="1" i="0">
                <a:solidFill>
                  <a:srgbClr val="111827"/>
                </a:solidFill>
                <a:latin typeface="Segoe UI"/>
              </a:rPr>
              <a:t>Accountant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498847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6B7280"/>
                </a:solidFill>
                <a:latin typeface="Segoe UI"/>
              </a:rPr>
              <a:t>Fee structures, student billing, payment collection, financial reports.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840479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840479"/>
            <a:ext cx="34290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4041647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550" b="1" i="0">
                <a:solidFill>
                  <a:srgbClr val="111827"/>
                </a:solidFill>
                <a:latin typeface="Segoe UI"/>
              </a:rPr>
              <a:t>College Administrator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98847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 i="0">
                <a:solidFill>
                  <a:srgbClr val="6B7280"/>
                </a:solidFill>
                <a:latin typeface="Segoe UI"/>
              </a:rPr>
              <a:t>Full control: every module, every report, user management.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pic>
        <p:nvPicPr>
          <p:cNvPr id="32" name="Picture 3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7D2FE"/>
                </a:solidFill>
                <a:latin typeface="Segoe UI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Academic Setup &amp;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The foundation every other module depends on — and now fully self-service.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237744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C7D2FE"/>
                </a:solidFill>
                <a:latin typeface="Segoe UI"/>
              </a:rPr>
              <a:t>CLIENT BENEFIT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Segoe UI"/>
              </a:rPr>
              <a:t>Coordinators and administrators run the entire academic setup themselves, with no IT dependency for routine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795527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Departments, Programs, Semesters, Courses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Defined once, reused every term — no re-entry.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Faculty Assignments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Assign a course + section to a teacher for a semester in one screen.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Student &amp; Teacher Onboarding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Add a person and their login is created together — one step, not two systems.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Enrollments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Enroll a student into a course offering; it appears on their dashboard immediately.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No Django-admin required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Every one of the above is a guided, branded screen — not a raw developer tool.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pic>
        <p:nvPicPr>
          <p:cNvPr id="12" name="Picture 1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7D2FE"/>
                </a:solidFill>
                <a:latin typeface="Segoe U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Attendance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Subject-wise attendance, marked once, visible everywhere instantly.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237744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C7D2FE"/>
                </a:solidFill>
                <a:latin typeface="Segoe UI"/>
              </a:rPr>
              <a:t>CLIENT BENEFIT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Segoe UI"/>
              </a:rPr>
              <a:t>Removes the single biggest paper-based process on campus, with instant visibility for students and staff alike.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795527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Lecture-wise marking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Teacher creates a session and marks the whole class in one screen.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Automatic calculations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Attendance %, lectures delivered/attended/absent — computed live, never stale.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Shortage warnings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Students flagged automatically once they fall below the required threshold.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Student self-service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Every student sees their own daily attendance status, per course.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pic>
        <p:nvPicPr>
          <p:cNvPr id="12" name="Picture 1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7D2FE"/>
                </a:solidFill>
                <a:latin typeface="Segoe UI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Faculty Day Book &amp;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Every lecture delivered becomes a payroll-ready record automatically.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237744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C7D2FE"/>
                </a:solidFill>
                <a:latin typeface="Segoe UI"/>
              </a:rPr>
              <a:t>CLIENT BENEFIT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Segoe UI"/>
              </a:rPr>
              <a:t>Faculty pay is calculated from verified data, not estimates — removing a recurring source of dispute.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795527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Auto-logged from Attendance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No duplicate data entry — marking attendance creates the day book entry.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Coordinator verification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A simple queue to confirm lectures actually took place before they count for pay.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Workload &amp; payroll report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Delivered vs. verified lecture counts, computed pay, per teacher, per month.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Exportable snapshots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One-click Excel/PDF for handing straight to payroll.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pic>
        <p:nvPicPr>
          <p:cNvPr id="12" name="Picture 1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7D2FE"/>
                </a:solidFill>
                <a:latin typeface="Segoe UI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Assessments &amp; Academic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Quizzes to GPA, calculated the moment a mark is entered.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237744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C7D2FE"/>
                </a:solidFill>
                <a:latin typeface="Segoe UI"/>
              </a:rPr>
              <a:t>CLIENT BENEFIT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Students always know exactly where they stand — no waiting for a result sheet to be compiled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795527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Flexible assessment types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Quizzes, assignments, presentations, midterms — each with its own weight.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Teacher marks entry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One screen per assessment, per course, for the whole class.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Live grading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Percentage, letter grade, semester GPA, and CGPA recalculate instantly on save.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Student transparency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Every student sees their own obtained/total marks and grade per course, live.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pic>
        <p:nvPicPr>
          <p:cNvPr id="12" name="Picture 1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7D2FE"/>
                </a:solidFill>
                <a:latin typeface="Segoe UI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Intelligent Timetable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Class scheduling that blocks conflicts before they happen.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237744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C7D2FE"/>
                </a:solidFill>
                <a:latin typeface="Segoe UI"/>
              </a:rPr>
              <a:t>CLIENT BENEFIT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Scheduling conflicts that used to surface on the first day of class are caught before the timetable is even published.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795527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Visual weekly grid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Coordinators place a course into a day/room/time slot with a live conflict check.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No teacher double-booking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The system blocks a teacher being scheduled in two places at once.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No room double-booking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Same protection applied to every classroom and lab.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Everyone sees their own schedule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Teachers and students get a personal read-only weekly 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pic>
        <p:nvPicPr>
          <p:cNvPr id="12" name="Picture 1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7D2FE"/>
                </a:solidFill>
                <a:latin typeface="Segoe UI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Fee &amp; Financial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Every student’s fee history, tracked from admission to graduation.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237744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C7D2FE"/>
                </a:solidFill>
                <a:latin typeface="Segoe UI"/>
              </a:rPr>
              <a:t>CLIENT BENEFIT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Segoe UI"/>
              </a:rPr>
              <a:t>A complete, always-current financial picture per student — no more reconciling paper ledgers at term-end.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795527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Per-program fee packages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Tuition, one-time registration, recurring exam fees — defined once per program.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Automatic fee generation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One click generates a student’s fee items for their current semester.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Payment recording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Partial payments supported; outstanding balance always accurate, always current.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Status at a glance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Paid, partial, overdue, or unpaid — visible instantly to both accountant and student.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pic>
        <p:nvPicPr>
          <p:cNvPr id="12" name="Picture 1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7D2FE"/>
                </a:solidFill>
                <a:latin typeface="Segoe UI"/>
              </a:rPr>
              <a:t>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651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Dashboards &amp;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2651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Every number a decision-maker needs, in one place.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237744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100" b="1" i="0">
                <a:solidFill>
                  <a:srgbClr val="C7D2FE"/>
                </a:solidFill>
                <a:latin typeface="Segoe UI"/>
              </a:rPr>
              <a:t>CLIENT BENEFIT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0" i="0">
                <a:solidFill>
                  <a:srgbClr val="FFFFFF"/>
                </a:solidFill>
                <a:latin typeface="Segoe UI"/>
              </a:rPr>
              <a:t>Reports that used to take a staff member a day to compile by hand are now available instantly, in the format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777240"/>
            <a:ext cx="7955279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Role-specific dashboards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Each of the six roles sees the numbers relevant to them the moment they log in.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Attendance &amp; academic reports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Per-course gradesheets and attendance sheets, on demand.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Semester merit list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Every student ranked by GPA, campus-wide.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650" b="1" i="0">
                <a:solidFill>
                  <a:srgbClr val="111827"/>
                </a:solidFill>
                <a:latin typeface="Segoe UI"/>
              </a:rPr>
              <a:t>Excel &amp; PDF export, everywhere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Every report — workload, financial, academic — exports in one click.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pic>
        <p:nvPicPr>
          <p:cNvPr id="12" name="Picture 1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Why This Matters for the Campus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83794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i="0">
                <a:solidFill>
                  <a:srgbClr val="111827"/>
                </a:solidFill>
                <a:latin typeface="Segoe UI"/>
              </a:rPr>
              <a:t>Zero Manual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17627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B7280"/>
                </a:solidFill>
                <a:latin typeface="Segoe UI"/>
              </a:rPr>
              <a:t>Attendance, day books, and result sheets are no longer paper- or spreadsheet-based — one system, always current.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9164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183794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i="0">
                <a:solidFill>
                  <a:srgbClr val="111827"/>
                </a:solidFill>
                <a:latin typeface="Segoe UI"/>
              </a:rPr>
              <a:t>Real-Time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217627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B7280"/>
                </a:solidFill>
                <a:latin typeface="Segoe UI"/>
              </a:rPr>
              <a:t>Students see attendance/grades/fees the moment they are entered; management sees campus-wide numbers instantly, not at month-end.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0098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i="0">
                <a:solidFill>
                  <a:srgbClr val="111827"/>
                </a:solidFill>
                <a:latin typeface="Segoe UI"/>
              </a:rPr>
              <a:t>Payroll Tied to Real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3931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B7280"/>
                </a:solidFill>
                <a:latin typeface="Segoe UI"/>
              </a:rPr>
              <a:t>Faculty pay is calculated from verified lecture counts, not estimated — removing a recurring source of dispute.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15468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3375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330098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i="0">
                <a:solidFill>
                  <a:srgbClr val="111827"/>
                </a:solidFill>
                <a:latin typeface="Segoe UI"/>
              </a:rPr>
              <a:t>No Double-Booking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63931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B7280"/>
                </a:solidFill>
                <a:latin typeface="Segoe UI"/>
              </a:rPr>
              <a:t>Timetable scheduling blocks teacher and room conflicts automatically before they happen.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76402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i="0">
                <a:solidFill>
                  <a:srgbClr val="111827"/>
                </a:solidFill>
                <a:latin typeface="Segoe UI"/>
              </a:rPr>
              <a:t>Full Financial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10235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B7280"/>
                </a:solidFill>
                <a:latin typeface="Segoe UI"/>
              </a:rPr>
              <a:t>Every fee item and payment is tracked per student, per semester, with instant outstanding-balance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617720"/>
            <a:ext cx="5212080" cy="129844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4800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059669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764024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450" b="1" i="0">
                <a:solidFill>
                  <a:srgbClr val="111827"/>
                </a:solidFill>
                <a:latin typeface="Segoe UI"/>
              </a:rPr>
              <a:t>One Login, One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5102352"/>
            <a:ext cx="4297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6B7280"/>
                </a:solidFill>
                <a:latin typeface="Segoe UI"/>
              </a:rPr>
              <a:t>Every role — student to administrator — gets exactly the tools relevant to them, nothing more, nothing less.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  <p:pic>
        <p:nvPicPr>
          <p:cNvPr id="32" name="Picture 31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VALUE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What Changes for Each Stakeholder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82880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Stakeholder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691640"/>
            <a:ext cx="443484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691640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Segoe UI"/>
              </a:rPr>
              <a:t>Before (Manual Process)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691640"/>
            <a:ext cx="4434840" cy="457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691640"/>
            <a:ext cx="4160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After (This System)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4884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2148840"/>
            <a:ext cx="4434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03720" y="2148840"/>
            <a:ext cx="4434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4884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14884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B45309"/>
                </a:solidFill>
                <a:latin typeface="Segoe UI"/>
              </a:rPr>
              <a:t>Chase teachers for marks; guess attendance status; visit accounts office for fee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4884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059669"/>
                </a:solidFill>
                <a:latin typeface="Segoe UI"/>
              </a:rPr>
              <a:t>Real-time grades, GPA/CGPA, attendance %, and fee balance from any 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17520"/>
            <a:ext cx="1828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68880" y="3017520"/>
            <a:ext cx="44348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3017520"/>
            <a:ext cx="44348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1752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Teachers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01752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B45309"/>
                </a:solidFill>
                <a:latin typeface="Segoe UI"/>
              </a:rPr>
              <a:t>Paper attendance registers; manual day-book entries; disputed lecture 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1752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059669"/>
                </a:solidFill>
                <a:latin typeface="Segoe UI"/>
              </a:rPr>
              <a:t>One click to mark attendance and log lectures; pay computed from verified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8620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68880" y="3886200"/>
            <a:ext cx="4434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03720" y="3886200"/>
            <a:ext cx="4434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8620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Coordinators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388620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B45309"/>
                </a:solidFill>
                <a:latin typeface="Segoe UI"/>
              </a:rPr>
              <a:t>Excel sheets for course/faculty assignment; manual timetable clash-checking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88620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059669"/>
                </a:solidFill>
                <a:latin typeface="Segoe UI"/>
              </a:rPr>
              <a:t>Guided screens for every setup task; conflicts blocked automatically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54880"/>
            <a:ext cx="182880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68880" y="4754880"/>
            <a:ext cx="44348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03720" y="4754880"/>
            <a:ext cx="44348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75488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Accountants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475488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B45309"/>
                </a:solidFill>
                <a:latin typeface="Segoe UI"/>
              </a:rPr>
              <a:t>Manual fee ledgers per student; no consolidated outstanding-balance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75488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059669"/>
                </a:solidFill>
                <a:latin typeface="Segoe UI"/>
              </a:rPr>
              <a:t>Fee packages generated per student; live due/paid/outstanding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623560"/>
            <a:ext cx="1828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68880" y="5623560"/>
            <a:ext cx="4434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5623560"/>
            <a:ext cx="4434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623560"/>
            <a:ext cx="1554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111827"/>
                </a:solidFill>
                <a:latin typeface="Segoe UI"/>
              </a:rPr>
              <a:t>Administration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562356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B45309"/>
                </a:solidFill>
                <a:latin typeface="Segoe UI"/>
              </a:rPr>
              <a:t>No single source of truth; reports assembled manually for meetings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623560"/>
            <a:ext cx="4160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 i="0">
                <a:solidFill>
                  <a:srgbClr val="059669"/>
                </a:solidFill>
                <a:latin typeface="Segoe UI"/>
              </a:rPr>
              <a:t>Campus-wide dashboards and one-click Excel/PDF reports, always current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  <p:pic>
        <p:nvPicPr>
          <p:cNvPr id="44" name="Picture 43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4338CA"/>
                </a:solidFill>
                <a:latin typeface="Segoe U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3000" b="1" i="0">
                <a:solidFill>
                  <a:srgbClr val="111827"/>
                </a:solidFill>
                <a:latin typeface="Segoe UI"/>
              </a:rPr>
              <a:t>Roadmap Beyond This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298448"/>
            <a:ext cx="548640" cy="508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698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User acceptance testing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Client team tests the live system with real campus data before go-live.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Deployment to production hosting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Moving from local demonstration to a live, always-on server.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Staff onboarding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Short walkthroughs for coordinators, accountants, and teachers on their specific screens.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800" b="1" i="0">
                <a:solidFill>
                  <a:srgbClr val="111827"/>
                </a:solidFill>
                <a:latin typeface="Segoe UI"/>
              </a:rPr>
              <a:t>Optional enhancements</a:t>
            </a:r>
          </a:p>
          <a:p>
            <a:pPr algn="l" lvl="1">
              <a:spcBef>
                <a:spcPts val="0"/>
              </a:spcBef>
              <a:spcAft>
                <a:spcPts val="1400"/>
              </a:spcAft>
              <a:buNone/>
            </a:pPr>
            <a:r>
              <a:rPr sz="1400" b="0" i="0">
                <a:solidFill>
                  <a:srgbClr val="6B7280"/>
                </a:solidFill>
                <a:latin typeface="Segoe UI"/>
              </a:rPr>
              <a:t>SMS/email notifications, a self-service "change password" flow, and any campus-specific requests that come out of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698480" cy="59436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1">
                <a:solidFill>
                  <a:srgbClr val="1E3A8A"/>
                </a:solidFill>
                <a:latin typeface="Segoe UI"/>
              </a:rPr>
              <a:t>The system is feature-complete against the original brief and ready for client review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KIPS College Kasur Campus — Campus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37960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  <a:buNone/>
            </a:pPr>
            <a:r>
              <a:rPr sz="900" b="0" i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  <p:pic>
        <p:nvPicPr>
          <p:cNvPr id="11" name="Picture 10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0" y="6519672"/>
            <a:ext cx="224589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72B6B"/>
              </a:gs>
              <a:gs pos="100000">
                <a:srgbClr val="31289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ips-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731520"/>
            <a:ext cx="705853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48840"/>
            <a:ext cx="103601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457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C7D2FE"/>
                </a:solidFill>
                <a:latin typeface="Segoe UI"/>
              </a:rPr>
              <a:t>Questions, feedback, and requested changes are all welcome — this system was built to be shaped around how the campus actually 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0248" y="4114800"/>
            <a:ext cx="3657600" cy="25400"/>
          </a:xfrm>
          <a:prstGeom prst="rect">
            <a:avLst/>
          </a:prstGeom>
          <a:solidFill>
            <a:srgbClr val="5B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6015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Segoe UI"/>
              </a:rPr>
              <a:t>KIPS College Kasur Campus</a:t>
            </a:r>
          </a:p>
          <a:p>
            <a:pPr algn="ctr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0">
                <a:solidFill>
                  <a:srgbClr val="C7D2FE"/>
                </a:solidFill>
                <a:latin typeface="Segoe UI"/>
              </a:rPr>
              <a:t>Campus Management System — Project Delivery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